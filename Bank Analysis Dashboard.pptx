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1" r:id="rId6"/>
    <p:sldId id="262" r:id="rId7"/>
    <p:sldId id="263" r:id="rId8"/>
    <p:sldId id="260"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9" d="100"/>
          <a:sy n="59" d="100"/>
        </p:scale>
        <p:origin x="138"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7/18/2026</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7/18/2026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7/18/2026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7/18/2026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7/18/2026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207F-E03F-CEA4-AE50-224EB2E72B37}"/>
              </a:ext>
            </a:extLst>
          </p:cNvPr>
          <p:cNvSpPr>
            <a:spLocks noGrp="1"/>
          </p:cNvSpPr>
          <p:nvPr>
            <p:ph type="ctrTitle"/>
          </p:nvPr>
        </p:nvSpPr>
        <p:spPr>
          <a:xfrm>
            <a:off x="1261872" y="758952"/>
            <a:ext cx="9418320" cy="4041648"/>
          </a:xfrm>
        </p:spPr>
        <p:txBody>
          <a:bodyPr/>
          <a:lstStyle/>
          <a:p>
            <a:r>
              <a:rPr lang="en-US" dirty="0"/>
              <a:t>Bank Analysis Dashboard</a:t>
            </a:r>
          </a:p>
        </p:txBody>
      </p:sp>
      <p:sp>
        <p:nvSpPr>
          <p:cNvPr id="3" name="Subtitle 2">
            <a:extLst>
              <a:ext uri="{FF2B5EF4-FFF2-40B4-BE49-F238E27FC236}">
                <a16:creationId xmlns:a16="http://schemas.microsoft.com/office/drawing/2014/main" id="{A1C9C35D-0559-6E59-6649-F5C9C3B5BCB2}"/>
              </a:ext>
            </a:extLst>
          </p:cNvPr>
          <p:cNvSpPr>
            <a:spLocks noGrp="1"/>
          </p:cNvSpPr>
          <p:nvPr>
            <p:ph type="subTitle" idx="1"/>
          </p:nvPr>
        </p:nvSpPr>
        <p:spPr/>
        <p:txBody>
          <a:bodyPr>
            <a:normAutofit/>
          </a:bodyPr>
          <a:lstStyle/>
          <a:p>
            <a:r>
              <a:rPr lang="en-US" dirty="0"/>
              <a:t>Prepared by:</a:t>
            </a:r>
          </a:p>
          <a:p>
            <a:r>
              <a:rPr lang="en-US" dirty="0"/>
              <a:t>Obimezie Chidinma Miracle</a:t>
            </a:r>
          </a:p>
          <a:p>
            <a:r>
              <a:rPr lang="en-US" dirty="0"/>
              <a:t>Data Analyst Portfolio</a:t>
            </a:r>
          </a:p>
        </p:txBody>
      </p:sp>
    </p:spTree>
    <p:extLst>
      <p:ext uri="{BB962C8B-B14F-4D97-AF65-F5344CB8AC3E}">
        <p14:creationId xmlns:p14="http://schemas.microsoft.com/office/powerpoint/2010/main" val="571360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7C2A-5204-B2E1-CFA5-3EAC829CF718}"/>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32B50018-3E4F-46DE-B4F7-10AB98C116D7}"/>
              </a:ext>
            </a:extLst>
          </p:cNvPr>
          <p:cNvSpPr>
            <a:spLocks noGrp="1"/>
          </p:cNvSpPr>
          <p:nvPr>
            <p:ph idx="1"/>
          </p:nvPr>
        </p:nvSpPr>
        <p:spPr/>
        <p:txBody>
          <a:bodyPr/>
          <a:lstStyle/>
          <a:p>
            <a:r>
              <a:rPr lang="en-US" dirty="0"/>
              <a:t>Objective: Built a Bank Analytics Dashboard to analyze customer information, including balances, loan amount, account types, loan status, and satisfaction scores, providing interactive insights for better decision-making.</a:t>
            </a:r>
          </a:p>
          <a:p>
            <a:r>
              <a:rPr lang="en-US" dirty="0"/>
              <a:t>Business Problem: The bank needed a way to quickly analyze customer balances, loan amounts, and other key metrics by gender, city, account type, and loan status. Without an interactive dashboard, gaining these insights would be time-consuming and inefficient.</a:t>
            </a:r>
          </a:p>
          <a:p>
            <a:r>
              <a:rPr lang="en-US" dirty="0"/>
              <a:t>Tools Used: Microsoft Excel, SQL, Power BI, DAX Measurement</a:t>
            </a:r>
          </a:p>
        </p:txBody>
      </p:sp>
    </p:spTree>
    <p:extLst>
      <p:ext uri="{BB962C8B-B14F-4D97-AF65-F5344CB8AC3E}">
        <p14:creationId xmlns:p14="http://schemas.microsoft.com/office/powerpoint/2010/main" val="646579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3B244-4F89-8F7D-5232-44D94986B6F3}"/>
              </a:ext>
            </a:extLst>
          </p:cNvPr>
          <p:cNvSpPr>
            <a:spLocks noGrp="1"/>
          </p:cNvSpPr>
          <p:nvPr>
            <p:ph type="title"/>
          </p:nvPr>
        </p:nvSpPr>
        <p:spPr/>
        <p:txBody>
          <a:bodyPr/>
          <a:lstStyle/>
          <a:p>
            <a:r>
              <a:rPr lang="en-US" dirty="0"/>
              <a:t>Dataset Description</a:t>
            </a:r>
          </a:p>
        </p:txBody>
      </p:sp>
      <p:sp>
        <p:nvSpPr>
          <p:cNvPr id="3" name="Content Placeholder 2">
            <a:extLst>
              <a:ext uri="{FF2B5EF4-FFF2-40B4-BE49-F238E27FC236}">
                <a16:creationId xmlns:a16="http://schemas.microsoft.com/office/drawing/2014/main" id="{3D1C38AA-D72B-B38D-5DFB-47E78266D0FD}"/>
              </a:ext>
            </a:extLst>
          </p:cNvPr>
          <p:cNvSpPr>
            <a:spLocks noGrp="1"/>
          </p:cNvSpPr>
          <p:nvPr>
            <p:ph idx="1"/>
          </p:nvPr>
        </p:nvSpPr>
        <p:spPr/>
        <p:txBody>
          <a:bodyPr/>
          <a:lstStyle/>
          <a:p>
            <a:r>
              <a:rPr lang="en-US" dirty="0"/>
              <a:t>The dataset contains 17 customer records.</a:t>
            </a:r>
          </a:p>
          <a:p>
            <a:r>
              <a:rPr lang="en-US" dirty="0"/>
              <a:t>It includes information on Customer ID, Gender, City, Account Type, Loan Status, Satisfaction Score, and Age. It was used to analyze customer profiles and financial performance.</a:t>
            </a:r>
          </a:p>
          <a:p>
            <a:pPr marL="0" indent="0">
              <a:buNone/>
            </a:pPr>
            <a:endParaRPr lang="en-US" dirty="0"/>
          </a:p>
        </p:txBody>
      </p:sp>
    </p:spTree>
    <p:extLst>
      <p:ext uri="{BB962C8B-B14F-4D97-AF65-F5344CB8AC3E}">
        <p14:creationId xmlns:p14="http://schemas.microsoft.com/office/powerpoint/2010/main" val="3455640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7BC4B-01A4-2248-BABC-5F602A4B510E}"/>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BA1642C0-4B10-8B9F-E7DB-6958CDAD0D16}"/>
              </a:ext>
            </a:extLst>
          </p:cNvPr>
          <p:cNvSpPr>
            <a:spLocks noGrp="1"/>
          </p:cNvSpPr>
          <p:nvPr>
            <p:ph idx="1"/>
          </p:nvPr>
        </p:nvSpPr>
        <p:spPr/>
        <p:txBody>
          <a:bodyPr/>
          <a:lstStyle/>
          <a:p>
            <a:r>
              <a:rPr lang="en-US" dirty="0"/>
              <a:t>Checked for missing values.</a:t>
            </a:r>
          </a:p>
          <a:p>
            <a:r>
              <a:rPr lang="en-US" dirty="0"/>
              <a:t>Corrected data types where needed.</a:t>
            </a:r>
          </a:p>
          <a:p>
            <a:r>
              <a:rPr lang="en-US" dirty="0"/>
              <a:t>Prepared the data for analysis.</a:t>
            </a:r>
          </a:p>
          <a:p>
            <a:r>
              <a:rPr lang="en-US" dirty="0"/>
              <a:t>Created DAX measures.</a:t>
            </a:r>
          </a:p>
        </p:txBody>
      </p:sp>
    </p:spTree>
    <p:extLst>
      <p:ext uri="{BB962C8B-B14F-4D97-AF65-F5344CB8AC3E}">
        <p14:creationId xmlns:p14="http://schemas.microsoft.com/office/powerpoint/2010/main" val="383877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14EE-08D5-CB0A-792C-148BE3C6A489}"/>
              </a:ext>
            </a:extLst>
          </p:cNvPr>
          <p:cNvSpPr>
            <a:spLocks noGrp="1"/>
          </p:cNvSpPr>
          <p:nvPr>
            <p:ph type="title"/>
          </p:nvPr>
        </p:nvSpPr>
        <p:spPr>
          <a:xfrm>
            <a:off x="391886" y="365760"/>
            <a:ext cx="10562626" cy="1325562"/>
          </a:xfrm>
        </p:spPr>
        <p:txBody>
          <a:bodyPr/>
          <a:lstStyle/>
          <a:p>
            <a:r>
              <a:rPr lang="en-US" dirty="0"/>
              <a:t>Customer Analysis Dashboard Overview</a:t>
            </a:r>
          </a:p>
        </p:txBody>
      </p:sp>
      <p:pic>
        <p:nvPicPr>
          <p:cNvPr id="5" name="Content Placeholder 4">
            <a:extLst>
              <a:ext uri="{FF2B5EF4-FFF2-40B4-BE49-F238E27FC236}">
                <a16:creationId xmlns:a16="http://schemas.microsoft.com/office/drawing/2014/main" id="{6A34E281-68F8-6DA5-8D24-3A99406B9E4D}"/>
              </a:ext>
            </a:extLst>
          </p:cNvPr>
          <p:cNvPicPr>
            <a:picLocks noGrp="1" noChangeAspect="1"/>
          </p:cNvPicPr>
          <p:nvPr>
            <p:ph idx="1"/>
          </p:nvPr>
        </p:nvPicPr>
        <p:blipFill>
          <a:blip r:embed="rId2"/>
          <a:stretch>
            <a:fillRect/>
          </a:stretch>
        </p:blipFill>
        <p:spPr>
          <a:xfrm>
            <a:off x="391886" y="1828799"/>
            <a:ext cx="10562625" cy="4833257"/>
          </a:xfrm>
          <a:prstGeom prst="rect">
            <a:avLst/>
          </a:prstGeom>
        </p:spPr>
      </p:pic>
    </p:spTree>
    <p:extLst>
      <p:ext uri="{BB962C8B-B14F-4D97-AF65-F5344CB8AC3E}">
        <p14:creationId xmlns:p14="http://schemas.microsoft.com/office/powerpoint/2010/main" val="169021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2D92C-00A0-DE80-DD99-257B1001045F}"/>
              </a:ext>
            </a:extLst>
          </p:cNvPr>
          <p:cNvSpPr>
            <a:spLocks noGrp="1"/>
          </p:cNvSpPr>
          <p:nvPr>
            <p:ph type="title"/>
          </p:nvPr>
        </p:nvSpPr>
        <p:spPr/>
        <p:txBody>
          <a:bodyPr/>
          <a:lstStyle/>
          <a:p>
            <a:r>
              <a:rPr lang="en-US" dirty="0"/>
              <a:t>Customer Filter Dashboard</a:t>
            </a:r>
          </a:p>
        </p:txBody>
      </p:sp>
      <p:pic>
        <p:nvPicPr>
          <p:cNvPr id="5" name="Content Placeholder 4">
            <a:extLst>
              <a:ext uri="{FF2B5EF4-FFF2-40B4-BE49-F238E27FC236}">
                <a16:creationId xmlns:a16="http://schemas.microsoft.com/office/drawing/2014/main" id="{24B28365-ADDA-C2E4-0D4A-0B26B6ADFE4B}"/>
              </a:ext>
            </a:extLst>
          </p:cNvPr>
          <p:cNvPicPr>
            <a:picLocks noGrp="1" noChangeAspect="1"/>
          </p:cNvPicPr>
          <p:nvPr>
            <p:ph idx="1"/>
          </p:nvPr>
        </p:nvPicPr>
        <p:blipFill>
          <a:blip r:embed="rId2"/>
          <a:stretch>
            <a:fillRect/>
          </a:stretch>
        </p:blipFill>
        <p:spPr>
          <a:xfrm>
            <a:off x="195942" y="1691323"/>
            <a:ext cx="10891157" cy="5036048"/>
          </a:xfrm>
          <a:prstGeom prst="rect">
            <a:avLst/>
          </a:prstGeom>
        </p:spPr>
      </p:pic>
    </p:spTree>
    <p:extLst>
      <p:ext uri="{BB962C8B-B14F-4D97-AF65-F5344CB8AC3E}">
        <p14:creationId xmlns:p14="http://schemas.microsoft.com/office/powerpoint/2010/main" val="4092484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573BE-68E7-BF3A-51DE-83CEDD0ED2D6}"/>
              </a:ext>
            </a:extLst>
          </p:cNvPr>
          <p:cNvSpPr>
            <a:spLocks noGrp="1"/>
          </p:cNvSpPr>
          <p:nvPr>
            <p:ph type="title"/>
          </p:nvPr>
        </p:nvSpPr>
        <p:spPr/>
        <p:txBody>
          <a:bodyPr/>
          <a:lstStyle/>
          <a:p>
            <a:r>
              <a:rPr lang="en-US" dirty="0"/>
              <a:t>SQL Queries</a:t>
            </a:r>
          </a:p>
        </p:txBody>
      </p:sp>
      <p:pic>
        <p:nvPicPr>
          <p:cNvPr id="5" name="Content Placeholder 4">
            <a:extLst>
              <a:ext uri="{FF2B5EF4-FFF2-40B4-BE49-F238E27FC236}">
                <a16:creationId xmlns:a16="http://schemas.microsoft.com/office/drawing/2014/main" id="{63391C98-6D25-7128-4BBC-E8B687DD3FC6}"/>
              </a:ext>
            </a:extLst>
          </p:cNvPr>
          <p:cNvPicPr>
            <a:picLocks noGrp="1" noChangeAspect="1"/>
          </p:cNvPicPr>
          <p:nvPr>
            <p:ph idx="1"/>
          </p:nvPr>
        </p:nvPicPr>
        <p:blipFill>
          <a:blip r:embed="rId2"/>
          <a:stretch>
            <a:fillRect/>
          </a:stretch>
        </p:blipFill>
        <p:spPr>
          <a:xfrm>
            <a:off x="179614" y="1691322"/>
            <a:ext cx="10956471" cy="5003392"/>
          </a:xfrm>
          <a:prstGeom prst="rect">
            <a:avLst/>
          </a:prstGeom>
        </p:spPr>
      </p:pic>
    </p:spTree>
    <p:extLst>
      <p:ext uri="{BB962C8B-B14F-4D97-AF65-F5344CB8AC3E}">
        <p14:creationId xmlns:p14="http://schemas.microsoft.com/office/powerpoint/2010/main" val="2948173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9AD49-47CD-F602-9859-0C822967ED64}"/>
              </a:ext>
            </a:extLst>
          </p:cNvPr>
          <p:cNvSpPr>
            <a:spLocks noGrp="1"/>
          </p:cNvSpPr>
          <p:nvPr>
            <p:ph type="title"/>
          </p:nvPr>
        </p:nvSpPr>
        <p:spPr/>
        <p:txBody>
          <a:bodyPr/>
          <a:lstStyle/>
          <a:p>
            <a:r>
              <a:rPr lang="en-US" dirty="0"/>
              <a:t>Key Insights</a:t>
            </a:r>
          </a:p>
        </p:txBody>
      </p:sp>
      <p:sp>
        <p:nvSpPr>
          <p:cNvPr id="3" name="Content Placeholder 2">
            <a:extLst>
              <a:ext uri="{FF2B5EF4-FFF2-40B4-BE49-F238E27FC236}">
                <a16:creationId xmlns:a16="http://schemas.microsoft.com/office/drawing/2014/main" id="{BB36AD71-D4CC-3071-F836-AA76720341A0}"/>
              </a:ext>
            </a:extLst>
          </p:cNvPr>
          <p:cNvSpPr>
            <a:spLocks noGrp="1"/>
          </p:cNvSpPr>
          <p:nvPr>
            <p:ph idx="1"/>
          </p:nvPr>
        </p:nvSpPr>
        <p:spPr/>
        <p:txBody>
          <a:bodyPr>
            <a:normAutofit/>
          </a:bodyPr>
          <a:lstStyle/>
          <a:p>
            <a:r>
              <a:rPr lang="en-US" dirty="0"/>
              <a:t>Total account balance is 157 million.</a:t>
            </a:r>
          </a:p>
          <a:p>
            <a:r>
              <a:rPr lang="en-US" dirty="0"/>
              <a:t>Total loan amount is 237 million.</a:t>
            </a:r>
          </a:p>
          <a:p>
            <a:r>
              <a:rPr lang="en-US" dirty="0"/>
              <a:t>The average monthly income is 681.82 thousand.</a:t>
            </a:r>
          </a:p>
          <a:p>
            <a:r>
              <a:rPr lang="en-US" dirty="0"/>
              <a:t>Port-Harcourt has the highest balance.</a:t>
            </a:r>
          </a:p>
          <a:p>
            <a:r>
              <a:rPr lang="en-US" dirty="0"/>
              <a:t>The highest age group is 56+.</a:t>
            </a:r>
          </a:p>
          <a:p>
            <a:r>
              <a:rPr lang="en-US" dirty="0"/>
              <a:t>Rejected loan of 40% is accounted for the largest share of loan applications in the dataset.</a:t>
            </a:r>
          </a:p>
          <a:p>
            <a:r>
              <a:rPr lang="en-US" dirty="0"/>
              <a:t>Average customer satisfaction score is 2.86.</a:t>
            </a:r>
          </a:p>
          <a:p>
            <a:r>
              <a:rPr lang="en-US" dirty="0"/>
              <a:t>Current account has the highest average income.</a:t>
            </a:r>
          </a:p>
          <a:p>
            <a:r>
              <a:rPr lang="en-US" dirty="0"/>
              <a:t>Lagos has the highest loan amount compared to other cities.</a:t>
            </a:r>
          </a:p>
          <a:p>
            <a:endParaRPr lang="en-US" dirty="0"/>
          </a:p>
        </p:txBody>
      </p:sp>
    </p:spTree>
    <p:extLst>
      <p:ext uri="{BB962C8B-B14F-4D97-AF65-F5344CB8AC3E}">
        <p14:creationId xmlns:p14="http://schemas.microsoft.com/office/powerpoint/2010/main" val="173719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1484E-BF01-CD85-B493-DDC60209DA73}"/>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3AA58E50-B0C9-F907-5F2C-66D7ACACB3F4}"/>
              </a:ext>
            </a:extLst>
          </p:cNvPr>
          <p:cNvSpPr>
            <a:spLocks noGrp="1"/>
          </p:cNvSpPr>
          <p:nvPr>
            <p:ph idx="1"/>
          </p:nvPr>
        </p:nvSpPr>
        <p:spPr/>
        <p:txBody>
          <a:bodyPr/>
          <a:lstStyle/>
          <a:p>
            <a:r>
              <a:rPr lang="en-US" dirty="0"/>
              <a:t>Investigate rejected loan applications.</a:t>
            </a:r>
          </a:p>
          <a:p>
            <a:r>
              <a:rPr lang="en-US" dirty="0"/>
              <a:t>Analyze why Lagos has the highest loan amount.</a:t>
            </a:r>
          </a:p>
          <a:p>
            <a:r>
              <a:rPr lang="en-US" dirty="0"/>
              <a:t>Continue monitoring customer trends.</a:t>
            </a:r>
          </a:p>
        </p:txBody>
      </p:sp>
    </p:spTree>
    <p:extLst>
      <p:ext uri="{BB962C8B-B14F-4D97-AF65-F5344CB8AC3E}">
        <p14:creationId xmlns:p14="http://schemas.microsoft.com/office/powerpoint/2010/main" val="1956365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D762-50CF-73D3-F235-CC185694445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5048DEE-F4D5-3B7C-421F-1F18036B2B83}"/>
              </a:ext>
            </a:extLst>
          </p:cNvPr>
          <p:cNvSpPr>
            <a:spLocks noGrp="1"/>
          </p:cNvSpPr>
          <p:nvPr>
            <p:ph idx="1"/>
          </p:nvPr>
        </p:nvSpPr>
        <p:spPr/>
        <p:txBody>
          <a:bodyPr/>
          <a:lstStyle/>
          <a:p>
            <a:r>
              <a:rPr lang="en-US" dirty="0"/>
              <a:t>The Bank Analytics Dashboard enables the bank staffs to monitor account types, loan status, customer balances, and customer behavior across different cities. These insights support faster analysis helping them make more informed, </a:t>
            </a:r>
            <a:r>
              <a:rPr lang="en-US"/>
              <a:t>data-driven decisions.</a:t>
            </a:r>
            <a:endParaRPr lang="en-US" dirty="0"/>
          </a:p>
        </p:txBody>
      </p:sp>
    </p:spTree>
    <p:extLst>
      <p:ext uri="{BB962C8B-B14F-4D97-AF65-F5344CB8AC3E}">
        <p14:creationId xmlns:p14="http://schemas.microsoft.com/office/powerpoint/2010/main" val="97399347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54</TotalTime>
  <Words>326</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Schoolbook</vt:lpstr>
      <vt:lpstr>Wingdings 2</vt:lpstr>
      <vt:lpstr>View</vt:lpstr>
      <vt:lpstr>Bank Analysis Dashboard</vt:lpstr>
      <vt:lpstr>Project Overview</vt:lpstr>
      <vt:lpstr>Dataset Description</vt:lpstr>
      <vt:lpstr>Data Cleaning</vt:lpstr>
      <vt:lpstr>Customer Analysis Dashboard Overview</vt:lpstr>
      <vt:lpstr>Customer Filter Dashboard</vt:lpstr>
      <vt:lpstr>SQL Queries</vt:lpstr>
      <vt:lpstr>Key Insights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Chidinma Obimezie</dc:creator>
  <cp:lastModifiedBy>Chidinma Obimezie</cp:lastModifiedBy>
  <cp:revision>5</cp:revision>
  <dcterms:created xsi:type="dcterms:W3CDTF">2026-07-18T13:06:03Z</dcterms:created>
  <dcterms:modified xsi:type="dcterms:W3CDTF">2026-07-18T14:00:40Z</dcterms:modified>
</cp:coreProperties>
</file>